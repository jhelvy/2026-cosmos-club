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53F"/>
    <a:srgbClr val="CD5036"/>
    <a:srgbClr val="156082"/>
    <a:srgbClr val="EDE5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94"/>
  </p:normalViewPr>
  <p:slideViewPr>
    <p:cSldViewPr snapToGrid="0">
      <p:cViewPr varScale="1">
        <p:scale>
          <a:sx n="121" d="100"/>
          <a:sy n="121" d="100"/>
        </p:scale>
        <p:origin x="6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B0612-2589-8694-96AD-D66B19936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DD1501-4D4A-2F35-317A-CA33138BF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7F59-9713-4A49-41BB-3FB8FBFD7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D6CEA-B24D-2E78-447B-50B329B9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17881-AB3E-03CA-FF92-38F45CD87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763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B976B-3BCE-177A-2820-DF8FE396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9DF4F-84FD-5B87-B1C1-A2DA4F36B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8C210-C35C-E6E5-26F3-29808FC1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60D12-A5DC-67CA-1570-4B7780F1E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69793-6971-877C-F7F6-789D86C70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962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EF65C-1786-ACF0-8D1D-8EDC741A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EF50-9C3E-4E1F-0415-E07CC46BC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2C3AB-EFFA-5967-DCFA-9724CDFFD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152FC-BC3E-CDC0-F567-6B123FB6B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2D847-A2D7-652B-B2F1-9C63542A8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613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67EA-E03F-14AA-1D87-B49009B2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6D140-BB13-E5A0-F366-7E5F286AEE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F3640B-654B-9C2A-A96C-36F9E821C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62AAFF-28AE-9119-0B32-872EEB11A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47B2E6-30E6-FA0A-C00D-46FAAFEAD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B3942D-8360-D258-1450-5DF668AE7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B81B0-477E-3C5D-E62F-01524993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742F0-FB89-1A41-6F80-6C299042C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16268-30AC-0239-559E-F540B3382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8C842E-8F2B-1EBD-84B4-0DD0DF2BC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9FCA58-5702-C7E4-79C6-4C1DD2D839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0F093C-9BF0-06FA-ED01-F3253CEE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D41FD2-06FB-DCF8-8C2D-F15D3B244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4EA90C-07FC-96AA-192F-A4F63B05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75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C486C-420F-2ACA-0BEC-F8A131DA7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CC8843-FC6E-A9F0-C852-7EB578ABD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01E6E-A89A-6C87-E3F3-E73ACC6D9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FE5CD-EC35-C7F8-0D2D-32089795C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919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41EC35-EAC5-D3F8-8BF4-EF4F5CB6D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23B94A-132A-15B1-6EE2-F6F6F70D5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D50EC-75A7-C2D1-0CA8-F801A9B40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148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31C4A-1E51-7FB5-2005-C38E745F2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5726A-F3DF-F957-C37F-44BB7F908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1D61B8-9768-666D-897C-2C3308C2A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B2D297-8109-69B0-57C7-4A9E0B5F7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F2D17-9ADD-EF7A-C2C9-4C510368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A34DE-F1CE-8598-AF9B-842FD0A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4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3644-A7EA-34CE-D8EF-2C5999B41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FD68EC-8202-533F-D282-770AFC82F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76CC4C-0E6D-2224-65CE-C4E53D31C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E0D11-6734-DF92-77C0-40EE0138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F83CA-825C-2476-D149-BDCD6BAEB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58E13-CB31-478F-1106-CB34EE69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604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AD6E-2B11-2EB0-5EEC-879473826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C5E52-AE1F-8310-4150-8EA9D81CE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53D87-522A-786E-DA2D-22CAFB41A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F0DC4-EB7C-E5B9-7010-989E052A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B455A-171B-1AD1-EC36-A04412A3F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885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A6ACDA-4F3C-CFD0-8E81-CC80891CC3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6B938-EC24-6BFB-3E5B-1AEBB2A92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923C7-0C64-AC8D-54DD-64006B3A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8553A-2C28-C39F-E417-69C6D048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9ACEA-34F4-B90B-6652-DA7EFFA9F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8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0DED77-4B1B-7C4E-94DE-D2C45A229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53983-41FE-739F-E5AF-8714A3604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1C9BF-2490-D528-59A3-39D883F5DF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C8572-9970-0F4D-A39B-B1546E31373A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50E9-6E13-4271-25F5-DC6BE4B51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EC422-5BB6-3AD9-DA0F-DDBC4C4916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0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 mirror with a picture of cars and a flag&#10;&#10;AI-generated content may be incorrect.">
            <a:extLst>
              <a:ext uri="{FF2B5EF4-FFF2-40B4-BE49-F238E27FC236}">
                <a16:creationId xmlns:a16="http://schemas.microsoft.com/office/drawing/2014/main" id="{E28F99E7-FE4B-D9B4-EA0F-51C2C0B67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67648"/>
            <a:ext cx="8835529" cy="5890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6360EC-6A97-8BE5-48C1-5AD1A93F064A}"/>
              </a:ext>
            </a:extLst>
          </p:cNvPr>
          <p:cNvSpPr txBox="1"/>
          <p:nvPr/>
        </p:nvSpPr>
        <p:spPr>
          <a:xfrm>
            <a:off x="132201" y="11017"/>
            <a:ext cx="115924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Fira Sans Condensed Medium" panose="020B0603050000020004" pitchFamily="34" charset="0"/>
              </a:rPr>
              <a:t>The American EV Transition:</a:t>
            </a:r>
          </a:p>
          <a:p>
            <a:r>
              <a:rPr lang="en-US" sz="3600" dirty="0">
                <a:latin typeface="Fira Sans Condensed Medium" panose="020B0603050000020004" pitchFamily="34" charset="0"/>
              </a:rPr>
              <a:t>Looking Ahead While Lagging Behind (China)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0CCF8D-B607-8B97-2770-B5A10879269E}"/>
              </a:ext>
            </a:extLst>
          </p:cNvPr>
          <p:cNvSpPr txBox="1"/>
          <p:nvPr/>
        </p:nvSpPr>
        <p:spPr>
          <a:xfrm>
            <a:off x="522382" y="5092657"/>
            <a:ext cx="115924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600" b="1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John Paul Helveston</a:t>
            </a:r>
          </a:p>
          <a:p>
            <a:pPr algn="r"/>
            <a:r>
              <a:rPr lang="en-US" sz="3600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George Washington U.</a:t>
            </a:r>
          </a:p>
          <a:p>
            <a:pPr algn="r"/>
            <a:r>
              <a:rPr lang="en-US" sz="3600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April 22, 2026</a:t>
            </a:r>
          </a:p>
        </p:txBody>
      </p:sp>
    </p:spTree>
    <p:extLst>
      <p:ext uri="{BB962C8B-B14F-4D97-AF65-F5344CB8AC3E}">
        <p14:creationId xmlns:p14="http://schemas.microsoft.com/office/powerpoint/2010/main" val="350203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56CF2-A961-A9DB-EEA4-4C0A17A1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BB9D95E0-38E8-C820-7437-0072037FEC9B}"/>
              </a:ext>
            </a:extLst>
          </p:cNvPr>
          <p:cNvSpPr/>
          <p:nvPr/>
        </p:nvSpPr>
        <p:spPr>
          <a:xfrm>
            <a:off x="5465671" y="568577"/>
            <a:ext cx="4365294" cy="4365294"/>
          </a:xfrm>
          <a:prstGeom prst="ellipse">
            <a:avLst/>
          </a:prstGeom>
          <a:solidFill>
            <a:schemeClr val="bg1">
              <a:lumMod val="65000"/>
              <a:alpha val="4313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87FCAA-7E3A-2F24-B16D-7E5B82C2DF2B}"/>
              </a:ext>
            </a:extLst>
          </p:cNvPr>
          <p:cNvSpPr txBox="1"/>
          <p:nvPr/>
        </p:nvSpPr>
        <p:spPr>
          <a:xfrm>
            <a:off x="6123706" y="953310"/>
            <a:ext cx="340846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诸侯</a:t>
            </a:r>
            <a:endParaRPr lang="en-US" sz="6600" dirty="0">
              <a:latin typeface="Weibei SC" panose="03000800000000000000" pitchFamily="66" charset="-128"/>
              <a:ea typeface="Weibei SC" panose="03000800000000000000" pitchFamily="66" charset="-128"/>
            </a:endParaRPr>
          </a:p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经济</a:t>
            </a:r>
            <a:r>
              <a:rPr lang="en-US" sz="6600" dirty="0">
                <a:latin typeface="Weibei SC" panose="03000800000000000000" pitchFamily="66" charset="-128"/>
                <a:ea typeface="Weibei SC" panose="03000800000000000000" pitchFamily="66" charset="-128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A319E-1EDE-4846-2792-03AA091E765D}"/>
              </a:ext>
            </a:extLst>
          </p:cNvPr>
          <p:cNvSpPr txBox="1"/>
          <p:nvPr/>
        </p:nvSpPr>
        <p:spPr>
          <a:xfrm>
            <a:off x="5901742" y="3146368"/>
            <a:ext cx="37795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Britannic Bold" panose="020B0903060703020204" pitchFamily="34" charset="77"/>
              </a:rPr>
              <a:t>Local </a:t>
            </a:r>
          </a:p>
          <a:p>
            <a:pPr algn="ctr"/>
            <a:r>
              <a:rPr lang="en-US" sz="3200" dirty="0">
                <a:latin typeface="Britannic Bold" panose="020B0903060703020204" pitchFamily="34" charset="77"/>
              </a:rPr>
              <a:t>Protectionism</a:t>
            </a:r>
          </a:p>
        </p:txBody>
      </p:sp>
    </p:spTree>
    <p:extLst>
      <p:ext uri="{BB962C8B-B14F-4D97-AF65-F5344CB8AC3E}">
        <p14:creationId xmlns:p14="http://schemas.microsoft.com/office/powerpoint/2010/main" val="416557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8E56A-7665-96B4-C29B-45164FD97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264510-9C43-6666-E1DD-CD1BF4A5A38D}"/>
              </a:ext>
            </a:extLst>
          </p:cNvPr>
          <p:cNvSpPr/>
          <p:nvPr/>
        </p:nvSpPr>
        <p:spPr>
          <a:xfrm>
            <a:off x="2057208" y="568577"/>
            <a:ext cx="4365294" cy="4365294"/>
          </a:xfrm>
          <a:prstGeom prst="ellipse">
            <a:avLst/>
          </a:prstGeom>
          <a:solidFill>
            <a:srgbClr val="D15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8645038-10F0-8356-517E-CE1C6B1620C4}"/>
              </a:ext>
            </a:extLst>
          </p:cNvPr>
          <p:cNvSpPr/>
          <p:nvPr/>
        </p:nvSpPr>
        <p:spPr>
          <a:xfrm>
            <a:off x="5465671" y="568577"/>
            <a:ext cx="4365294" cy="4365294"/>
          </a:xfrm>
          <a:prstGeom prst="ellipse">
            <a:avLst/>
          </a:prstGeom>
          <a:solidFill>
            <a:schemeClr val="bg1">
              <a:lumMod val="65000"/>
              <a:alpha val="4313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4AB8F8-B439-8A46-CD66-560C8D77A8AF}"/>
              </a:ext>
            </a:extLst>
          </p:cNvPr>
          <p:cNvSpPr txBox="1"/>
          <p:nvPr/>
        </p:nvSpPr>
        <p:spPr>
          <a:xfrm>
            <a:off x="6123706" y="953310"/>
            <a:ext cx="340846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诸侯</a:t>
            </a:r>
            <a:endParaRPr lang="en-US" sz="6600" dirty="0">
              <a:latin typeface="Weibei SC" panose="03000800000000000000" pitchFamily="66" charset="-128"/>
              <a:ea typeface="Weibei SC" panose="03000800000000000000" pitchFamily="66" charset="-128"/>
            </a:endParaRPr>
          </a:p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经济</a:t>
            </a:r>
            <a:r>
              <a:rPr lang="en-US" sz="6600" dirty="0">
                <a:latin typeface="Weibei SC" panose="03000800000000000000" pitchFamily="66" charset="-128"/>
                <a:ea typeface="Weibei SC" panose="03000800000000000000" pitchFamily="66" charset="-128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9BFBF8-3480-C2A5-26E3-08DCD250C684}"/>
              </a:ext>
            </a:extLst>
          </p:cNvPr>
          <p:cNvSpPr txBox="1"/>
          <p:nvPr/>
        </p:nvSpPr>
        <p:spPr>
          <a:xfrm>
            <a:off x="2659830" y="2962050"/>
            <a:ext cx="281288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  <a:latin typeface="Britannic Bold" panose="020B0903060703020204" pitchFamily="34" charset="77"/>
              </a:rPr>
              <a:t>Involution</a:t>
            </a:r>
          </a:p>
          <a:p>
            <a:pPr algn="ctr"/>
            <a:r>
              <a:rPr lang="en-US" sz="4400" dirty="0">
                <a:solidFill>
                  <a:schemeClr val="bg1"/>
                </a:solidFill>
                <a:latin typeface="Britannic Bold" panose="020B0903060703020204" pitchFamily="34" charset="77"/>
              </a:rPr>
              <a:t>&amp; “996”</a:t>
            </a:r>
            <a:endParaRPr lang="en-US" sz="4800" dirty="0">
              <a:solidFill>
                <a:schemeClr val="bg1"/>
              </a:solidFill>
              <a:latin typeface="Britannic Bold" panose="020B0903060703020204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ECB706-57D2-144D-C96F-B952647E9D22}"/>
              </a:ext>
            </a:extLst>
          </p:cNvPr>
          <p:cNvSpPr txBox="1"/>
          <p:nvPr/>
        </p:nvSpPr>
        <p:spPr>
          <a:xfrm>
            <a:off x="2057208" y="1515500"/>
            <a:ext cx="340846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800" dirty="0" err="1">
                <a:solidFill>
                  <a:schemeClr val="bg1"/>
                </a:solidFill>
                <a:latin typeface="Weibei SC" panose="03000800000000000000" pitchFamily="66" charset="-128"/>
                <a:ea typeface="Weibei SC" panose="03000800000000000000" pitchFamily="66" charset="-128"/>
              </a:rPr>
              <a:t>内卷</a:t>
            </a:r>
            <a:endParaRPr lang="en-US" sz="8800" dirty="0">
              <a:solidFill>
                <a:schemeClr val="bg1"/>
              </a:solidFill>
              <a:latin typeface="Weibei SC" panose="03000800000000000000" pitchFamily="66" charset="-128"/>
              <a:ea typeface="Weibei SC" panose="03000800000000000000" pitchFamily="66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300DBB-4667-646B-00B0-C25171B8566E}"/>
              </a:ext>
            </a:extLst>
          </p:cNvPr>
          <p:cNvSpPr txBox="1"/>
          <p:nvPr/>
        </p:nvSpPr>
        <p:spPr>
          <a:xfrm>
            <a:off x="5901742" y="3146368"/>
            <a:ext cx="37795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Britannic Bold" panose="020B0903060703020204" pitchFamily="34" charset="77"/>
              </a:rPr>
              <a:t>Local </a:t>
            </a:r>
          </a:p>
          <a:p>
            <a:pPr algn="ctr"/>
            <a:r>
              <a:rPr lang="en-US" sz="3200" dirty="0">
                <a:latin typeface="Britannic Bold" panose="020B0903060703020204" pitchFamily="34" charset="77"/>
              </a:rPr>
              <a:t>Protectionism</a:t>
            </a:r>
          </a:p>
        </p:txBody>
      </p:sp>
    </p:spTree>
    <p:extLst>
      <p:ext uri="{BB962C8B-B14F-4D97-AF65-F5344CB8AC3E}">
        <p14:creationId xmlns:p14="http://schemas.microsoft.com/office/powerpoint/2010/main" val="565250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A39FB-3C48-62A9-2BB6-A94C1C96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C747541-028C-A0C1-B0C0-B3FE0A8E0888}"/>
              </a:ext>
            </a:extLst>
          </p:cNvPr>
          <p:cNvSpPr/>
          <p:nvPr/>
        </p:nvSpPr>
        <p:spPr>
          <a:xfrm>
            <a:off x="2057208" y="568577"/>
            <a:ext cx="4365294" cy="4365294"/>
          </a:xfrm>
          <a:prstGeom prst="ellipse">
            <a:avLst/>
          </a:prstGeom>
          <a:solidFill>
            <a:srgbClr val="D15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678F44-C5CF-3F2B-9402-D34A72DC85BB}"/>
              </a:ext>
            </a:extLst>
          </p:cNvPr>
          <p:cNvSpPr/>
          <p:nvPr/>
        </p:nvSpPr>
        <p:spPr>
          <a:xfrm>
            <a:off x="5465671" y="568577"/>
            <a:ext cx="4365294" cy="4365294"/>
          </a:xfrm>
          <a:prstGeom prst="ellipse">
            <a:avLst/>
          </a:prstGeom>
          <a:solidFill>
            <a:schemeClr val="bg1">
              <a:lumMod val="65000"/>
              <a:alpha val="4313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6248A2-DF4C-0F0A-2A73-E3662B7714CA}"/>
              </a:ext>
            </a:extLst>
          </p:cNvPr>
          <p:cNvSpPr txBox="1"/>
          <p:nvPr/>
        </p:nvSpPr>
        <p:spPr>
          <a:xfrm>
            <a:off x="6123706" y="953310"/>
            <a:ext cx="340846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诸侯</a:t>
            </a:r>
            <a:endParaRPr lang="en-US" sz="6600" dirty="0">
              <a:latin typeface="Weibei SC" panose="03000800000000000000" pitchFamily="66" charset="-128"/>
              <a:ea typeface="Weibei SC" panose="03000800000000000000" pitchFamily="66" charset="-128"/>
            </a:endParaRPr>
          </a:p>
          <a:p>
            <a:pPr algn="ctr"/>
            <a:r>
              <a:rPr lang="en-US" sz="6600" dirty="0" err="1">
                <a:latin typeface="Weibei SC" panose="03000800000000000000" pitchFamily="66" charset="-128"/>
                <a:ea typeface="Weibei SC" panose="03000800000000000000" pitchFamily="66" charset="-128"/>
              </a:rPr>
              <a:t>经济</a:t>
            </a:r>
            <a:r>
              <a:rPr lang="en-US" sz="6600" dirty="0">
                <a:latin typeface="Weibei SC" panose="03000800000000000000" pitchFamily="66" charset="-128"/>
                <a:ea typeface="Weibei SC" panose="03000800000000000000" pitchFamily="66" charset="-128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31BD06-3B75-A61B-DAA9-F7D4EC08BF24}"/>
              </a:ext>
            </a:extLst>
          </p:cNvPr>
          <p:cNvSpPr txBox="1"/>
          <p:nvPr/>
        </p:nvSpPr>
        <p:spPr>
          <a:xfrm>
            <a:off x="2659830" y="2962050"/>
            <a:ext cx="281288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  <a:latin typeface="Britannic Bold" panose="020B0903060703020204" pitchFamily="34" charset="77"/>
              </a:rPr>
              <a:t>Involution</a:t>
            </a:r>
          </a:p>
          <a:p>
            <a:pPr algn="ctr"/>
            <a:r>
              <a:rPr lang="en-US" sz="4400" dirty="0">
                <a:solidFill>
                  <a:schemeClr val="bg1"/>
                </a:solidFill>
                <a:latin typeface="Britannic Bold" panose="020B0903060703020204" pitchFamily="34" charset="77"/>
              </a:rPr>
              <a:t>&amp; “996”</a:t>
            </a:r>
            <a:endParaRPr lang="en-US" sz="4800" dirty="0">
              <a:solidFill>
                <a:schemeClr val="bg1"/>
              </a:solidFill>
              <a:latin typeface="Britannic Bold" panose="020B0903060703020204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F9D6-8254-4B32-2DB0-014A2939EF3E}"/>
              </a:ext>
            </a:extLst>
          </p:cNvPr>
          <p:cNvSpPr txBox="1"/>
          <p:nvPr/>
        </p:nvSpPr>
        <p:spPr>
          <a:xfrm>
            <a:off x="2057208" y="1515500"/>
            <a:ext cx="340846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800" dirty="0" err="1">
                <a:solidFill>
                  <a:schemeClr val="bg1"/>
                </a:solidFill>
                <a:latin typeface="Weibei SC" panose="03000800000000000000" pitchFamily="66" charset="-128"/>
                <a:ea typeface="Weibei SC" panose="03000800000000000000" pitchFamily="66" charset="-128"/>
              </a:rPr>
              <a:t>内卷</a:t>
            </a:r>
            <a:endParaRPr lang="en-US" sz="8800" dirty="0">
              <a:solidFill>
                <a:schemeClr val="bg1"/>
              </a:solidFill>
              <a:latin typeface="Weibei SC" panose="03000800000000000000" pitchFamily="66" charset="-128"/>
              <a:ea typeface="Weibei SC" panose="03000800000000000000" pitchFamily="66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8A6928-3BAC-4C6D-BA08-13CD9FBB12F8}"/>
              </a:ext>
            </a:extLst>
          </p:cNvPr>
          <p:cNvSpPr txBox="1"/>
          <p:nvPr/>
        </p:nvSpPr>
        <p:spPr>
          <a:xfrm>
            <a:off x="1735930" y="5355523"/>
            <a:ext cx="8775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Fira Sans Condensed Medium" panose="020B0603050000020004" pitchFamily="34" charset="0"/>
              </a:rPr>
              <a:t>R&amp;D focus on production innovation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0E9D6-97C0-3627-723C-906EF4F20E2B}"/>
              </a:ext>
            </a:extLst>
          </p:cNvPr>
          <p:cNvSpPr txBox="1"/>
          <p:nvPr/>
        </p:nvSpPr>
        <p:spPr>
          <a:xfrm>
            <a:off x="5901742" y="3146368"/>
            <a:ext cx="37795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Britannic Bold" panose="020B0903060703020204" pitchFamily="34" charset="77"/>
              </a:rPr>
              <a:t>Local </a:t>
            </a:r>
          </a:p>
          <a:p>
            <a:pPr algn="ctr"/>
            <a:r>
              <a:rPr lang="en-US" sz="3200" dirty="0">
                <a:latin typeface="Britannic Bold" panose="020B0903060703020204" pitchFamily="34" charset="77"/>
              </a:rPr>
              <a:t>Protectionism</a:t>
            </a:r>
          </a:p>
        </p:txBody>
      </p:sp>
    </p:spTree>
    <p:extLst>
      <p:ext uri="{BB962C8B-B14F-4D97-AF65-F5344CB8AC3E}">
        <p14:creationId xmlns:p14="http://schemas.microsoft.com/office/powerpoint/2010/main" val="4081255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</TotalTime>
  <Words>55</Words>
  <Application>Microsoft Macintosh PowerPoint</Application>
  <PresentationFormat>Widescreen</PresentationFormat>
  <Paragraphs>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Weibei SC</vt:lpstr>
      <vt:lpstr>Aptos</vt:lpstr>
      <vt:lpstr>Aptos Display</vt:lpstr>
      <vt:lpstr>Arial</vt:lpstr>
      <vt:lpstr>Britannic Bold</vt:lpstr>
      <vt:lpstr>Fira Sans Condensed Medium</vt:lpstr>
      <vt:lpstr>Roboto Condensed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Helveston, John Paul</dc:creator>
  <cp:lastModifiedBy>John Helveston</cp:lastModifiedBy>
  <cp:revision>23</cp:revision>
  <dcterms:created xsi:type="dcterms:W3CDTF">2025-04-27T17:59:37Z</dcterms:created>
  <dcterms:modified xsi:type="dcterms:W3CDTF">2026-04-20T13:12:12Z</dcterms:modified>
</cp:coreProperties>
</file>